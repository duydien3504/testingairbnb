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uli Semi-Bold" charset="1" panose="00000700000000000000"/>
      <p:regular r:id="rId13"/>
    </p:embeddedFont>
    <p:embeddedFont>
      <p:font typeface="Muli Extra-Light" charset="1" panose="00000300000000000000"/>
      <p:regular r:id="rId14"/>
    </p:embeddedFont>
    <p:embeddedFont>
      <p:font typeface="Muli Bold" charset="1" panose="00000800000000000000"/>
      <p:regular r:id="rId15"/>
    </p:embeddedFont>
    <p:embeddedFont>
      <p:font typeface="Muli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22269" y="1164342"/>
            <a:ext cx="14298635" cy="5444363"/>
            <a:chOff x="0" y="0"/>
            <a:chExt cx="19064847" cy="72591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4300"/>
              <a:ext cx="18455247" cy="461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07"/>
                </a:lnSpc>
              </a:pPr>
              <a:r>
                <a:rPr lang="en-US" sz="12188" spc="-487" b="true">
                  <a:solidFill>
                    <a:srgbClr val="5D03C4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Kiểm thử tự động cho website AirBnB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592401"/>
              <a:ext cx="19064847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5D03C4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Công Nghệ: Playwright Automation Framework kết hợp ngôn ngữ Java và TestNG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-5400000">
            <a:off x="-3503127" y="5138738"/>
            <a:ext cx="10287000" cy="0"/>
          </a:xfrm>
          <a:prstGeom prst="line">
            <a:avLst/>
          </a:prstGeom>
          <a:ln cap="rnd" w="9525">
            <a:solidFill>
              <a:srgbClr val="2424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2266445"/>
            <a:ext cx="1620078" cy="1620078"/>
          </a:xfrm>
          <a:custGeom>
            <a:avLst/>
            <a:gdLst/>
            <a:ahLst/>
            <a:cxnLst/>
            <a:rect r="r" b="b" t="t" l="l"/>
            <a:pathLst>
              <a:path h="1620078" w="1620078">
                <a:moveTo>
                  <a:pt x="0" y="0"/>
                </a:moveTo>
                <a:lnTo>
                  <a:pt x="1620078" y="0"/>
                </a:lnTo>
                <a:lnTo>
                  <a:pt x="1620078" y="1620079"/>
                </a:lnTo>
                <a:lnTo>
                  <a:pt x="0" y="162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578434"/>
            <a:ext cx="1640373" cy="688957"/>
          </a:xfrm>
          <a:custGeom>
            <a:avLst/>
            <a:gdLst/>
            <a:ahLst/>
            <a:cxnLst/>
            <a:rect r="r" b="b" t="t" l="l"/>
            <a:pathLst>
              <a:path h="688957" w="1640373">
                <a:moveTo>
                  <a:pt x="0" y="0"/>
                </a:moveTo>
                <a:lnTo>
                  <a:pt x="1640373" y="0"/>
                </a:lnTo>
                <a:lnTo>
                  <a:pt x="1640373" y="688956"/>
                </a:lnTo>
                <a:lnTo>
                  <a:pt x="0" y="688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738" y="442042"/>
            <a:ext cx="1444602" cy="1444602"/>
          </a:xfrm>
          <a:custGeom>
            <a:avLst/>
            <a:gdLst/>
            <a:ahLst/>
            <a:cxnLst/>
            <a:rect r="r" b="b" t="t" l="l"/>
            <a:pathLst>
              <a:path h="1444602" w="1444602">
                <a:moveTo>
                  <a:pt x="0" y="0"/>
                </a:moveTo>
                <a:lnTo>
                  <a:pt x="1444602" y="0"/>
                </a:lnTo>
                <a:lnTo>
                  <a:pt x="1444602" y="1444601"/>
                </a:lnTo>
                <a:lnTo>
                  <a:pt x="0" y="1444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658167" y="7551676"/>
            <a:ext cx="4967999" cy="1706624"/>
            <a:chOff x="0" y="0"/>
            <a:chExt cx="6623999" cy="227549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38100"/>
              <a:ext cx="6623999" cy="668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50"/>
                </a:lnSpc>
              </a:pPr>
              <a:r>
                <a:rPr lang="en-US" sz="3500" spc="-140" b="true">
                  <a:solidFill>
                    <a:srgbClr val="5D03C4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Thành Viên: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97548"/>
              <a:ext cx="5737350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5D03C4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Nguyễn Khiết Minh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5D03C4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Hồng Duy Điền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622269" y="7494526"/>
            <a:ext cx="682755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GVHD: Đinh Duy Phương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Mentor: Lê Nguyễn Kim Tuyến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3503127" y="5138738"/>
            <a:ext cx="10287000" cy="0"/>
          </a:xfrm>
          <a:prstGeom prst="line">
            <a:avLst/>
          </a:prstGeom>
          <a:ln cap="rnd" w="9525">
            <a:solidFill>
              <a:srgbClr val="2424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266445"/>
            <a:ext cx="1620078" cy="1620078"/>
          </a:xfrm>
          <a:custGeom>
            <a:avLst/>
            <a:gdLst/>
            <a:ahLst/>
            <a:cxnLst/>
            <a:rect r="r" b="b" t="t" l="l"/>
            <a:pathLst>
              <a:path h="1620078" w="1620078">
                <a:moveTo>
                  <a:pt x="0" y="0"/>
                </a:moveTo>
                <a:lnTo>
                  <a:pt x="1620078" y="0"/>
                </a:lnTo>
                <a:lnTo>
                  <a:pt x="1620078" y="1620079"/>
                </a:lnTo>
                <a:lnTo>
                  <a:pt x="0" y="162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578434"/>
            <a:ext cx="1640373" cy="688957"/>
          </a:xfrm>
          <a:custGeom>
            <a:avLst/>
            <a:gdLst/>
            <a:ahLst/>
            <a:cxnLst/>
            <a:rect r="r" b="b" t="t" l="l"/>
            <a:pathLst>
              <a:path h="688957" w="1640373">
                <a:moveTo>
                  <a:pt x="0" y="0"/>
                </a:moveTo>
                <a:lnTo>
                  <a:pt x="1640373" y="0"/>
                </a:lnTo>
                <a:lnTo>
                  <a:pt x="1640373" y="688956"/>
                </a:lnTo>
                <a:lnTo>
                  <a:pt x="0" y="688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38" y="442042"/>
            <a:ext cx="1444602" cy="1444602"/>
          </a:xfrm>
          <a:custGeom>
            <a:avLst/>
            <a:gdLst/>
            <a:ahLst/>
            <a:cxnLst/>
            <a:rect r="r" b="b" t="t" l="l"/>
            <a:pathLst>
              <a:path h="1444602" w="1444602">
                <a:moveTo>
                  <a:pt x="0" y="0"/>
                </a:moveTo>
                <a:lnTo>
                  <a:pt x="1444602" y="0"/>
                </a:lnTo>
                <a:lnTo>
                  <a:pt x="1444602" y="1444601"/>
                </a:lnTo>
                <a:lnTo>
                  <a:pt x="0" y="1444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14167" y="536575"/>
            <a:ext cx="496799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spc="-140" b="true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Lý do chọn đề tài: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4167" y="1153547"/>
            <a:ext cx="15773833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Tối ưu hóa nguồn lực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Đảm bảo tính chính xác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Đảm bảo hệ thống ổn định sau mỗi lần cập nhật hoặc chỉnh sửa mã nguồn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Có thể thực hiện đến hàng trăm kịch bản một cách nhanh chóng mà manual testing khó đáp ứng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4167" y="4695899"/>
            <a:ext cx="496799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spc="-140" b="true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Mục tiêu dự án: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14167" y="5388059"/>
            <a:ext cx="15773833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Xây dựng Framework hoàn chỉnh: thiết lập POM pattern bền vững, dễ bảo trì và mở rộng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Tự động hóa luồng nghiệp vụ: hoàn thiện bộ script cho 5 module chính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Báo cáo và bằng chứng: tự động thống kế báo cáo Extent Report, video demo quá trình thực thi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1172" y="2257725"/>
            <a:ext cx="2508088" cy="2508088"/>
          </a:xfrm>
          <a:custGeom>
            <a:avLst/>
            <a:gdLst/>
            <a:ahLst/>
            <a:cxnLst/>
            <a:rect r="r" b="b" t="t" l="l"/>
            <a:pathLst>
              <a:path h="2508088" w="2508088">
                <a:moveTo>
                  <a:pt x="0" y="0"/>
                </a:moveTo>
                <a:lnTo>
                  <a:pt x="2508089" y="0"/>
                </a:lnTo>
                <a:lnTo>
                  <a:pt x="2508089" y="2508088"/>
                </a:lnTo>
                <a:lnTo>
                  <a:pt x="0" y="2508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05145" y="2950478"/>
            <a:ext cx="2672812" cy="1122581"/>
          </a:xfrm>
          <a:custGeom>
            <a:avLst/>
            <a:gdLst/>
            <a:ahLst/>
            <a:cxnLst/>
            <a:rect r="r" b="b" t="t" l="l"/>
            <a:pathLst>
              <a:path h="1122581" w="2672812">
                <a:moveTo>
                  <a:pt x="0" y="0"/>
                </a:moveTo>
                <a:lnTo>
                  <a:pt x="2672813" y="0"/>
                </a:lnTo>
                <a:lnTo>
                  <a:pt x="2672813" y="1122581"/>
                </a:lnTo>
                <a:lnTo>
                  <a:pt x="0" y="1122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35633" y="2257725"/>
            <a:ext cx="2753139" cy="2753139"/>
          </a:xfrm>
          <a:custGeom>
            <a:avLst/>
            <a:gdLst/>
            <a:ahLst/>
            <a:cxnLst/>
            <a:rect r="r" b="b" t="t" l="l"/>
            <a:pathLst>
              <a:path h="2753139" w="2753139">
                <a:moveTo>
                  <a:pt x="0" y="0"/>
                </a:moveTo>
                <a:lnTo>
                  <a:pt x="2753140" y="0"/>
                </a:lnTo>
                <a:lnTo>
                  <a:pt x="2753140" y="2753139"/>
                </a:lnTo>
                <a:lnTo>
                  <a:pt x="0" y="2753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53673" y="6686688"/>
            <a:ext cx="2438343" cy="2438343"/>
          </a:xfrm>
          <a:custGeom>
            <a:avLst/>
            <a:gdLst/>
            <a:ahLst/>
            <a:cxnLst/>
            <a:rect r="r" b="b" t="t" l="l"/>
            <a:pathLst>
              <a:path h="2438343" w="2438343">
                <a:moveTo>
                  <a:pt x="0" y="0"/>
                </a:moveTo>
                <a:lnTo>
                  <a:pt x="2438343" y="0"/>
                </a:lnTo>
                <a:lnTo>
                  <a:pt x="2438343" y="2438343"/>
                </a:lnTo>
                <a:lnTo>
                  <a:pt x="0" y="2438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21932" y="6686688"/>
            <a:ext cx="4110743" cy="2312293"/>
          </a:xfrm>
          <a:custGeom>
            <a:avLst/>
            <a:gdLst/>
            <a:ahLst/>
            <a:cxnLst/>
            <a:rect r="r" b="b" t="t" l="l"/>
            <a:pathLst>
              <a:path h="2312293" w="4110743">
                <a:moveTo>
                  <a:pt x="0" y="0"/>
                </a:moveTo>
                <a:lnTo>
                  <a:pt x="4110744" y="0"/>
                </a:lnTo>
                <a:lnTo>
                  <a:pt x="4110744" y="2312293"/>
                </a:lnTo>
                <a:lnTo>
                  <a:pt x="0" y="23122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81217" y="1066800"/>
            <a:ext cx="496799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b="true" sz="3500" spc="-140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CÔNG NGHỆ SỬ DỤNG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499238"/>
            <a:ext cx="496799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b="true" sz="3500" spc="-140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CÔNG CỤ HỖ TRỢ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3503127" y="5138738"/>
            <a:ext cx="10287000" cy="0"/>
          </a:xfrm>
          <a:prstGeom prst="line">
            <a:avLst/>
          </a:prstGeom>
          <a:ln cap="rnd" w="9525">
            <a:solidFill>
              <a:srgbClr val="2424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266445"/>
            <a:ext cx="1620078" cy="1620078"/>
          </a:xfrm>
          <a:custGeom>
            <a:avLst/>
            <a:gdLst/>
            <a:ahLst/>
            <a:cxnLst/>
            <a:rect r="r" b="b" t="t" l="l"/>
            <a:pathLst>
              <a:path h="1620078" w="1620078">
                <a:moveTo>
                  <a:pt x="0" y="0"/>
                </a:moveTo>
                <a:lnTo>
                  <a:pt x="1620078" y="0"/>
                </a:lnTo>
                <a:lnTo>
                  <a:pt x="1620078" y="1620079"/>
                </a:lnTo>
                <a:lnTo>
                  <a:pt x="0" y="162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578434"/>
            <a:ext cx="1640373" cy="688957"/>
          </a:xfrm>
          <a:custGeom>
            <a:avLst/>
            <a:gdLst/>
            <a:ahLst/>
            <a:cxnLst/>
            <a:rect r="r" b="b" t="t" l="l"/>
            <a:pathLst>
              <a:path h="688957" w="1640373">
                <a:moveTo>
                  <a:pt x="0" y="0"/>
                </a:moveTo>
                <a:lnTo>
                  <a:pt x="1640373" y="0"/>
                </a:lnTo>
                <a:lnTo>
                  <a:pt x="1640373" y="688956"/>
                </a:lnTo>
                <a:lnTo>
                  <a:pt x="0" y="688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38" y="442042"/>
            <a:ext cx="1444602" cy="1444602"/>
          </a:xfrm>
          <a:custGeom>
            <a:avLst/>
            <a:gdLst/>
            <a:ahLst/>
            <a:cxnLst/>
            <a:rect r="r" b="b" t="t" l="l"/>
            <a:pathLst>
              <a:path h="1444602" w="1444602">
                <a:moveTo>
                  <a:pt x="0" y="0"/>
                </a:moveTo>
                <a:lnTo>
                  <a:pt x="1444602" y="0"/>
                </a:lnTo>
                <a:lnTo>
                  <a:pt x="1444602" y="1444601"/>
                </a:lnTo>
                <a:lnTo>
                  <a:pt x="0" y="1444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14167" y="1202442"/>
            <a:ext cx="496799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spc="-140" b="true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Kiến trúc Framework: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4167" y="2218820"/>
            <a:ext cx="15773833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Tầng Constant: Lưu trữ toàn bộ locators (Xpath, Css). Tách biệt khỏi mã logic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Tầng Page: Hiện thực hóa các hành động tương tác với giao diện như clickElement và fillElement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Tầng Utils: Quản lý cấu hình hệ thống, báo cáo và các class xử lý dữ liệu bổ trợ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Tầng Tests: Nơi thực hiện các ca kiểm thử thực tế bằng cách điều phối các hành động từ tầng Pages và xác thực kết quả (Assertion)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3503127" y="5138738"/>
            <a:ext cx="10287000" cy="0"/>
          </a:xfrm>
          <a:prstGeom prst="line">
            <a:avLst/>
          </a:prstGeom>
          <a:ln cap="rnd" w="9525">
            <a:solidFill>
              <a:srgbClr val="2424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266445"/>
            <a:ext cx="1620078" cy="1620078"/>
          </a:xfrm>
          <a:custGeom>
            <a:avLst/>
            <a:gdLst/>
            <a:ahLst/>
            <a:cxnLst/>
            <a:rect r="r" b="b" t="t" l="l"/>
            <a:pathLst>
              <a:path h="1620078" w="1620078">
                <a:moveTo>
                  <a:pt x="0" y="0"/>
                </a:moveTo>
                <a:lnTo>
                  <a:pt x="1620078" y="0"/>
                </a:lnTo>
                <a:lnTo>
                  <a:pt x="1620078" y="1620079"/>
                </a:lnTo>
                <a:lnTo>
                  <a:pt x="0" y="162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578434"/>
            <a:ext cx="1640373" cy="688957"/>
          </a:xfrm>
          <a:custGeom>
            <a:avLst/>
            <a:gdLst/>
            <a:ahLst/>
            <a:cxnLst/>
            <a:rect r="r" b="b" t="t" l="l"/>
            <a:pathLst>
              <a:path h="688957" w="1640373">
                <a:moveTo>
                  <a:pt x="0" y="0"/>
                </a:moveTo>
                <a:lnTo>
                  <a:pt x="1640373" y="0"/>
                </a:lnTo>
                <a:lnTo>
                  <a:pt x="1640373" y="688956"/>
                </a:lnTo>
                <a:lnTo>
                  <a:pt x="0" y="688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38" y="442042"/>
            <a:ext cx="1444602" cy="1444602"/>
          </a:xfrm>
          <a:custGeom>
            <a:avLst/>
            <a:gdLst/>
            <a:ahLst/>
            <a:cxnLst/>
            <a:rect r="r" b="b" t="t" l="l"/>
            <a:pathLst>
              <a:path h="1444602" w="1444602">
                <a:moveTo>
                  <a:pt x="0" y="0"/>
                </a:moveTo>
                <a:lnTo>
                  <a:pt x="1444602" y="0"/>
                </a:lnTo>
                <a:lnTo>
                  <a:pt x="1444602" y="1444601"/>
                </a:lnTo>
                <a:lnTo>
                  <a:pt x="0" y="1444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14167" y="801687"/>
            <a:ext cx="496799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spc="-140" b="true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Quy trình thực thi: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4167" y="1566041"/>
            <a:ext cx="15773833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Setup: Khởi tạo BrowserContext riêng biệt cho mỗi Test Case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Execution: Script gọi các phương thức từ tầng Pages (Login, Booking, Profile) để tương tác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Teardown: Tự động quay video màn hình (recordVideo) và ghi vết vào Extent Reports khi kết thúc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4167" y="3924624"/>
            <a:ext cx="496799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spc="-140" b="true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Chiến lược Data-Driven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14167" y="4729591"/>
            <a:ext cx="15773833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Mọi tham số hệ thống (URL, Account, Timeouts) tập trung tại config.properties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Data Handling: lớp TestConfig.java chịu trách nhiệm Parse dữ liệu từ file cấu hình</a:t>
            </a:r>
          </a:p>
          <a:p>
            <a:pPr algn="l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Sử dụng RandomFileUtils để tạo dữ liệu động (ảnh đại diện) cho module User Profile, tránh trùng lặp dữ liệu khi chạy test nhiều lần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Assertion: Kết quả mong đợi được định nghĩa sẵn trong kịch bản để so sánh trực tiếp với dữ liệu bóc tách từ UI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3503127" y="5138738"/>
            <a:ext cx="10287000" cy="0"/>
          </a:xfrm>
          <a:prstGeom prst="line">
            <a:avLst/>
          </a:prstGeom>
          <a:ln cap="rnd" w="9525">
            <a:solidFill>
              <a:srgbClr val="2424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266445"/>
            <a:ext cx="1620078" cy="1620078"/>
          </a:xfrm>
          <a:custGeom>
            <a:avLst/>
            <a:gdLst/>
            <a:ahLst/>
            <a:cxnLst/>
            <a:rect r="r" b="b" t="t" l="l"/>
            <a:pathLst>
              <a:path h="1620078" w="1620078">
                <a:moveTo>
                  <a:pt x="0" y="0"/>
                </a:moveTo>
                <a:lnTo>
                  <a:pt x="1620078" y="0"/>
                </a:lnTo>
                <a:lnTo>
                  <a:pt x="1620078" y="1620079"/>
                </a:lnTo>
                <a:lnTo>
                  <a:pt x="0" y="162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578434"/>
            <a:ext cx="1640373" cy="688957"/>
          </a:xfrm>
          <a:custGeom>
            <a:avLst/>
            <a:gdLst/>
            <a:ahLst/>
            <a:cxnLst/>
            <a:rect r="r" b="b" t="t" l="l"/>
            <a:pathLst>
              <a:path h="688957" w="1640373">
                <a:moveTo>
                  <a:pt x="0" y="0"/>
                </a:moveTo>
                <a:lnTo>
                  <a:pt x="1640373" y="0"/>
                </a:lnTo>
                <a:lnTo>
                  <a:pt x="1640373" y="688956"/>
                </a:lnTo>
                <a:lnTo>
                  <a:pt x="0" y="688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38" y="442042"/>
            <a:ext cx="1444602" cy="1444602"/>
          </a:xfrm>
          <a:custGeom>
            <a:avLst/>
            <a:gdLst/>
            <a:ahLst/>
            <a:cxnLst/>
            <a:rect r="r" b="b" t="t" l="l"/>
            <a:pathLst>
              <a:path h="1444602" w="1444602">
                <a:moveTo>
                  <a:pt x="0" y="0"/>
                </a:moveTo>
                <a:lnTo>
                  <a:pt x="1444602" y="0"/>
                </a:lnTo>
                <a:lnTo>
                  <a:pt x="1444602" y="1444601"/>
                </a:lnTo>
                <a:lnTo>
                  <a:pt x="0" y="1444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74410" y="536575"/>
            <a:ext cx="496799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  <a:spcBef>
                <a:spcPct val="0"/>
              </a:spcBef>
            </a:pPr>
            <a:r>
              <a:rPr lang="en-US" b="true" sz="3500" spc="-140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Extent Reports (HTML)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71976" y="1116717"/>
            <a:ext cx="15276877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Output: Xuất tệp HTML tổng hợp sau mỗi phiên chạy.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Chi tiết: Ghi vết từng bước thực hiện (Test Steps) và nội dung lỗi (Exception).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Trực quan: Dashboard phân loại Pass/Fail giúp nhận diện nhanh trạng thái hệ thống.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732828" y="3659511"/>
            <a:ext cx="5942034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b="true" sz="3500" spc="-140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Vid</a:t>
            </a:r>
            <a:r>
              <a:rPr lang="en-US" b="true" sz="3500" spc="-140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eo 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1976" y="4222507"/>
            <a:ext cx="15276877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Video: Tự động quay phim màn hình toàn bộ quá trình thực thi (recordVideo).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Giá trị: Cung cấp bằng chứng trực quan, giảm thời gian tái hiện lỗi (Reproduce) cho Developer.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732828" y="6018398"/>
            <a:ext cx="5942034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b="true" sz="3500" spc="-140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L</a:t>
            </a:r>
            <a:r>
              <a:rPr lang="en-US" b="true" sz="3500" spc="-140">
                <a:solidFill>
                  <a:srgbClr val="5D03C4"/>
                </a:solidFill>
                <a:latin typeface="Muli Bold"/>
                <a:ea typeface="Muli Bold"/>
                <a:cs typeface="Muli Bold"/>
                <a:sym typeface="Muli Bold"/>
              </a:rPr>
              <a:t>ogs &amp; Traceability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1976" y="6723800"/>
            <a:ext cx="15276877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Trace logs: Ghi lại mọi tương tác Console và bộ máy Playwright (Phục vụ Deep Debug).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D03C4"/>
                </a:solidFill>
                <a:latin typeface="Muli"/>
                <a:ea typeface="Muli"/>
                <a:cs typeface="Muli"/>
                <a:sym typeface="Muli"/>
              </a:rPr>
              <a:t>Truy vết: Liên kết trực tiếp giữa Báo cáo – Video – Hình ảnh – Mã nguồn.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40230" y="2650975"/>
            <a:ext cx="14607540" cy="49850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DAG-87eM--Q</dc:identifier>
  <dcterms:modified xsi:type="dcterms:W3CDTF">2011-08-01T06:04:30Z</dcterms:modified>
  <cp:revision>1</cp:revision>
  <dc:title>Kiểm thử tự động cho website AirBnB</dc:title>
</cp:coreProperties>
</file>